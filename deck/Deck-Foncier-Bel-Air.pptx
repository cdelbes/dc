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943600" cy="5943600"/>
          </a:xfrm>
          <a:prstGeom prst="ellipse">
            <a:avLst/>
          </a:prstGeom>
          <a:solidFill>
            <a:srgbClr val="22515F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474720"/>
            <a:ext cx="4114800" cy="4114800"/>
          </a:xfrm>
          <a:prstGeom prst="ellipse">
            <a:avLst/>
          </a:prstGeom>
          <a:solidFill>
            <a:srgbClr val="16354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— FONCIER DE BEL-AIR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si ton terrain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valait bien plus qu'un dépôt 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Étudier un projet de data center sur la parcelle avant de la vendre.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4709160"/>
            <a:ext cx="2926080" cy="0"/>
          </a:xfrm>
          <a:prstGeom prst="line">
            <a:avLst/>
          </a:prstGeom>
          <a:noFill/>
          <a:ln w="25400">
            <a:solidFill>
              <a:srgbClr val="00A1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892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6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proposition de Charles — juillet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DÉCISION DU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Aujourd'hui, une seule option est sur la 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120640" cy="4023360"/>
          </a:xfrm>
          <a:prstGeom prst="roundRect">
            <a:avLst>
              <a:gd name="adj" fmla="val 2273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86000"/>
            <a:ext cx="640080" cy="640080"/>
          </a:xfrm>
          <a:prstGeom prst="ellipse">
            <a:avLst/>
          </a:prstGeom>
          <a:solidFill>
            <a:srgbClr val="EC5F65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228600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Vendre maintenant à l'acheteur BTP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Encaissement unique et définitif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te sépares du terrain pour de bon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passif de la toiture amiantée est déduit de l'offre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« data center » du terrain n'est jamais testée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1B4355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3317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proposition tient en une phrase 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vendons pas tout de suite.</a:t>
            </a:r>
            <a:endParaRPr lang="en-US" sz="2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Donne-moi le temps d'étudier le projet — le risque pour toi est faible.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JE TE DEMANDE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choses simples — et ta sortie reste garantie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468880"/>
            <a:ext cx="777240" cy="777240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temps — 3 à 6 mois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93192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temps de vérifier qu'il existe vraiment un acheteur. Pas plus, pour commencer.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468880"/>
            <a:ext cx="777240" cy="777240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63440" y="3429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exclusivité courte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63440" y="393192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promesse de vente sous conditions, ou une option : tu ne t'engages à rien de définitif.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46720" y="214884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2468880"/>
            <a:ext cx="777240" cy="777240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366760" y="3429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 confiance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66760" y="393192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avance ensemble, en transparence. On refait le point avec les réponses en main.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623560"/>
            <a:ext cx="10881360" cy="640080"/>
          </a:xfrm>
          <a:prstGeom prst="roundRect">
            <a:avLst>
              <a:gd name="adj" fmla="val 14286"/>
            </a:avLst>
          </a:prstGeom>
          <a:solidFill>
            <a:srgbClr val="EAF6F5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projet n'aboutit pas, la vente à l'acheteur BTP reste possible : tu ne perds rien.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43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PROJET, SIMPLEMENT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Transformer un dépôt en foncier prêt à recevoir un data center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83280" cy="3108960"/>
          </a:xfrm>
          <a:prstGeom prst="roundRect">
            <a:avLst>
              <a:gd name="adj" fmla="val 2941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2461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terrain aujourd'hui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88620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de couverture, hangar à toiture amiantée. ~2 522 m² en zone d'activités.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950208" y="338328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3383280" cy="3108960"/>
          </a:xfrm>
          <a:prstGeom prst="roundRect">
            <a:avLst>
              <a:gd name="adj" fmla="val 2941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51460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709160" y="32461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qu'on prépare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388620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Puissance électrique, autorisations, fibre, terrain propre : un site « prêt à construire ».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44968" y="338328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229600" y="2286000"/>
            <a:ext cx="3383280" cy="3108960"/>
          </a:xfrm>
          <a:prstGeom prst="roundRect">
            <a:avLst>
              <a:gd name="adj" fmla="val 2941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51460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503920" y="32461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valeur créée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03920" y="388620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foncier électrifié et dé-risqué — l'actif le plus recherché du secteur data center.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marché n'a jamais autant cherché des terrains électrifiés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1B4355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28600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D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+109 Md€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15468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annoncés en France pour les data centers d'ici 2030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1B4355"/>
          </a:solidFill>
          <a:ln/>
        </p:spPr>
      </p:sp>
      <p:sp>
        <p:nvSpPr>
          <p:cNvPr id="8" name="Text 6"/>
          <p:cNvSpPr/>
          <p:nvPr/>
        </p:nvSpPr>
        <p:spPr>
          <a:xfrm>
            <a:off x="4480560" y="228600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D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à 4 ans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17720" y="315468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délai pour obtenir un raccordement électrique aujourd'hui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429000" cy="1828800"/>
          </a:xfrm>
          <a:prstGeom prst="roundRect">
            <a:avLst>
              <a:gd name="adj" fmla="val 5000"/>
            </a:avLst>
          </a:prstGeom>
          <a:solidFill>
            <a:srgbClr val="1B4355"/>
          </a:solidFill>
          <a:ln/>
        </p:spPr>
      </p:sp>
      <p:sp>
        <p:nvSpPr>
          <p:cNvPr id="11" name="Text 9"/>
          <p:cNvSpPr/>
          <p:nvPr/>
        </p:nvSpPr>
        <p:spPr>
          <a:xfrm>
            <a:off x="8183880" y="228600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D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N°1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21040" y="315468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puissance disponible est devenue le premier critère de choix d'un site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34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métier existe déjà en France — je ne l'invente pas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Hadès Patrimoine (Paris) a fait métier de préparer des terrains « prêts à bâtir » pour data centers : permis, autorisations, poste électrique.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EDF ouvre ses anciens sites industriels ; l'État a identifié 35 terrains « clés en main » pour accueillir ces projets.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 TERRAIN PRÉCISÉMENT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Bel-Air coche les cases que d'autres n'ont pas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13432"/>
            <a:ext cx="621792" cy="621792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13432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83080" y="2185416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Puissance rare, à portée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03520" y="2148840"/>
            <a:ext cx="6035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~2,5 MW disponibles et une ligne haute tension à seulement 250 m. C'est ce qui manque partout ailleurs.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3832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39312"/>
            <a:ext cx="621792" cy="621792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9312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3511296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 usage, bonne zone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03520" y="3474720"/>
            <a:ext cx="6035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d'activités : un data center y est constructible. Terrain déjà artificialisé (pas de « béton neuf » à justifier).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965192"/>
            <a:ext cx="621792" cy="621792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65192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83080" y="4837176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Connecté et bien placé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0" y="4800600"/>
            <a:ext cx="6035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haut débit présent. Climat frais de Rodez (~590 m) = refroidissement moins cher.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43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 OÙ J'EN SUIS DÉJÀ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3 verrous d'un data center — et le plus dur est déjà là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74520" y="2514600"/>
            <a:ext cx="914400" cy="91440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6" name="Text 4"/>
          <p:cNvSpPr/>
          <p:nvPr/>
        </p:nvSpPr>
        <p:spPr>
          <a:xfrm>
            <a:off x="1874520" y="2514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Électricité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~2,5 MW disponibles, ligne HTA à 250 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417320" y="49834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6B576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49834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219456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2514600"/>
            <a:ext cx="914400" cy="91440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0" y="2514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43484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Urbanisme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709160" y="411480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d'activités = constructible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212080" y="49834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6B576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49834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FAVORABLE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0" y="219456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64040" y="2514600"/>
            <a:ext cx="914400" cy="91440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20" name="Text 18"/>
          <p:cNvSpPr/>
          <p:nvPr/>
        </p:nvSpPr>
        <p:spPr>
          <a:xfrm>
            <a:off x="9464040" y="2514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22960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503920" y="411480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haut débit présent, fibre pro livrable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06840" y="49834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6B576"/>
          </a:solidFill>
          <a:ln/>
        </p:spPr>
      </p:sp>
      <p:sp>
        <p:nvSpPr>
          <p:cNvPr id="24" name="Text 22"/>
          <p:cNvSpPr/>
          <p:nvPr/>
        </p:nvSpPr>
        <p:spPr>
          <a:xfrm>
            <a:off x="9006840" y="49834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FAVORABLE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D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puissance électrique — d'habitude le point qui tue les projets — est déjà disponible ici.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JE PEUX Y ARRIVER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C'est très exactement mon métier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029200" cy="4023360"/>
          </a:xfrm>
          <a:prstGeom prst="roundRect">
            <a:avLst>
              <a:gd name="adj" fmla="val 2273"/>
            </a:avLst>
          </a:prstGeom>
          <a:solidFill>
            <a:srgbClr val="1B4355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3317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Développeur de projets d'énergie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quotidien : sécuriser du foncier, obtenir des raccordements électriques et des autorisations d'urbanisme, monter des projets et les mener jusqu'à la construction ou la revente.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data center reprend les mêmes briques.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0" y="2011680"/>
            <a:ext cx="5577840" cy="896112"/>
          </a:xfrm>
          <a:prstGeom prst="roundRect">
            <a:avLst>
              <a:gd name="adj" fmla="val 8163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2231136"/>
            <a:ext cx="457200" cy="45720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10" name="Text 8"/>
          <p:cNvSpPr/>
          <p:nvPr/>
        </p:nvSpPr>
        <p:spPr>
          <a:xfrm>
            <a:off x="6172200" y="22311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1228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Raccordement électrique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12280" y="2450592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sais dialoguer avec Enedis et lire une capacité réseau.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0" y="3035808"/>
            <a:ext cx="5577840" cy="896112"/>
          </a:xfrm>
          <a:prstGeom prst="roundRect">
            <a:avLst>
              <a:gd name="adj" fmla="val 8163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3255264"/>
            <a:ext cx="457200" cy="45720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32552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12280" y="31272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Urbanisme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2280" y="347472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Permis, zonage, relation avec les mairies : c'est ma routine.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0" y="4059936"/>
            <a:ext cx="5577840" cy="896112"/>
          </a:xfrm>
          <a:prstGeom prst="roundRect">
            <a:avLst>
              <a:gd name="adj" fmla="val 8163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4279392"/>
            <a:ext cx="457200" cy="45720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4279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41513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Compute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12280" y="4498848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J'ai déjà déployé des mini data centers sur nos centrales solaires.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0" y="5084064"/>
            <a:ext cx="5577840" cy="896112"/>
          </a:xfrm>
          <a:prstGeom prst="roundRect">
            <a:avLst>
              <a:gd name="adj" fmla="val 8163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72200" y="5303520"/>
            <a:ext cx="457200" cy="45720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25" name="Text 23"/>
          <p:cNvSpPr/>
          <p:nvPr/>
        </p:nvSpPr>
        <p:spPr>
          <a:xfrm>
            <a:off x="6172200" y="5303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12280" y="51755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Réseau d'acteurs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12280" y="5522976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Enedis, fournisseurs de modules, opérateurs data center.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STRATÉGIE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Vérifier d'abord, investir ensuite, décider en dernier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846320" cy="4023360"/>
          </a:xfrm>
          <a:prstGeom prst="roundRect">
            <a:avLst>
              <a:gd name="adj" fmla="val 2273"/>
            </a:avLst>
          </a:prstGeom>
          <a:solidFill>
            <a:srgbClr val="1B4355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VÉRIFIER  (3-6 mois, sans dépense)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Contacter les spécialistes du foncier data center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Sonder les opérateurs : ce site les intéresse-t-il 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SÉCURISER  (si l'étape 1 est positive)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4389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Réserver la puissance électrique auprès d'Enedis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Obtenir le permis avec la mairie de Rodez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Traiter l'amiante et démolir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32120" y="365760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217920" y="21031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C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TU CHOISIS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514600"/>
            <a:ext cx="5303520" cy="1024128"/>
          </a:xfrm>
          <a:prstGeom prst="roundRect">
            <a:avLst>
              <a:gd name="adj" fmla="val 7143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770632"/>
            <a:ext cx="512064" cy="512064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2770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262432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Vendre le foncier « prêt à construire »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0" y="30175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Encaisser la survaleur, une fois le site dé-risqué.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685032"/>
            <a:ext cx="5303520" cy="1024128"/>
          </a:xfrm>
          <a:prstGeom prst="roundRect">
            <a:avLst>
              <a:gd name="adj" fmla="val 7143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3941064"/>
            <a:ext cx="512064" cy="512064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9410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32320" y="379476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louer à un exploitant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418795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loyer récurrent sur 20-40 ans : tu gardes le terrain.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4855464"/>
            <a:ext cx="5303520" cy="1024128"/>
          </a:xfrm>
          <a:prstGeom prst="roundRect">
            <a:avLst>
              <a:gd name="adj" fmla="val 7143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5111496"/>
            <a:ext cx="512064" cy="512064"/>
          </a:xfrm>
          <a:prstGeom prst="ellipse">
            <a:avLst/>
          </a:prstGeom>
          <a:solidFill>
            <a:srgbClr val="5E7076"/>
          </a:solidFill>
          <a:ln/>
        </p:spPr>
      </p:sp>
      <p:sp>
        <p:nvSpPr>
          <p:cNvPr id="23" name="Text 21"/>
          <p:cNvSpPr/>
          <p:nvPr/>
        </p:nvSpPr>
        <p:spPr>
          <a:xfrm>
            <a:off x="6446520" y="51114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132320" y="496519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Vendre au BTP (repli)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32320" y="5358384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possible si le projet n'aboutit pas.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BONUS POUR TOI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projet règle le problème de l'amiante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423160"/>
            <a:ext cx="640080" cy="640080"/>
          </a:xfrm>
          <a:prstGeom prst="ellipse">
            <a:avLst/>
          </a:prstGeom>
          <a:solidFill>
            <a:srgbClr val="EC5F65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23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242316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Aujourd'hui : un passif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toiture du hangar est amiantée.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désamiantage coûte ~25 000 à 55 000 €.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acheteur BTP le déduira de son offre — ou tu le porteras un jour.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1B4355"/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0" y="2423160"/>
            <a:ext cx="640080" cy="64008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423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406640" y="242316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Avec le projet : réglé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29400" y="329184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désamiantage et la démolition sont intégrés au montage.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passif disparaît sans que tu aies à le financer.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terrain ressort propre et valorisé.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CHANGE POUR TOI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Vente BTP maintenant  vs  voie data center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120640" cy="1783080"/>
          </a:xfrm>
          <a:prstGeom prst="roundRect">
            <a:avLst>
              <a:gd name="adj" fmla="val 5128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299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C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 BTP — MAINTENANT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239572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~164 000 – 340 000 €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3035808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de marché du terrain, passif amiante déduit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89320" y="1874520"/>
            <a:ext cx="5532120" cy="1783080"/>
          </a:xfrm>
          <a:prstGeom prst="roundRect">
            <a:avLst>
              <a:gd name="adj" fmla="val 5128"/>
            </a:avLst>
          </a:prstGeom>
          <a:solidFill>
            <a:srgbClr val="1B4355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20299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 PRÊT À BÂTIR — APRÈS PRÉPARATION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2395728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D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~320 000 – 700 000 €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309360" y="303580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un loyer récurrent, si tu préfères garder le terrain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D'où vient la différence ? De ce que le terrain fait économiser à son acheteur.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2578608" cy="1417320"/>
          </a:xfrm>
          <a:prstGeom prst="roundRect">
            <a:avLst>
              <a:gd name="adj" fmla="val 5161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4805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Raccordement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791456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– 300 k€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23036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branchement électrique est déjà réglé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01568" y="4343400"/>
            <a:ext cx="2578608" cy="1417320"/>
          </a:xfrm>
          <a:prstGeom prst="roundRect">
            <a:avLst>
              <a:gd name="adj" fmla="val 5161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44805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Autorisations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84448" y="4791456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– 50 k€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584448" y="523036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 obtenu, plus aucun aléa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63056" y="4343400"/>
            <a:ext cx="2578608" cy="1417320"/>
          </a:xfrm>
          <a:prstGeom prst="roundRect">
            <a:avLst>
              <a:gd name="adj" fmla="val 5161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5936" y="44805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Amiante traité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45936" y="4791456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– 55 k€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345936" y="523036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 propre, prêt à construire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24544" y="4343400"/>
            <a:ext cx="2578608" cy="1417320"/>
          </a:xfrm>
          <a:prstGeom prst="roundRect">
            <a:avLst>
              <a:gd name="adj" fmla="val 5161"/>
            </a:avLst>
          </a:prstGeom>
          <a:solidFill>
            <a:srgbClr val="F1F5F6"/>
          </a:solidFill>
          <a:ln w="12700">
            <a:solidFill>
              <a:srgbClr val="D8E2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07424" y="44805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gagné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07424" y="4791456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à 4 ans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107424" y="523036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vrai moteur de la valeur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euro de cette différence correspond à un coût réel que l'acheteur n'aura pas à payer.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43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L'ESSENTIEL POUR TOI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 toi, le risque est faible — et l'upside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487168"/>
            <a:ext cx="548640" cy="54864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487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24505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gardes le terrain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971800"/>
            <a:ext cx="4160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n'est vendu tant que tu n'as pas décidé.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10528" y="2487168"/>
            <a:ext cx="548640" cy="54864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2487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23760" y="24505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 sortie BTP reste ouverte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23760" y="2971800"/>
            <a:ext cx="4160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projet échoue, la vente au BTP reprend son cours.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361688"/>
            <a:ext cx="548640" cy="54864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3616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3251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coût d'attendre est quasi nul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846320"/>
            <a:ext cx="4160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temps travaille pour toi : la demande data center monte.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17920" y="406908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143743"/>
          </a:solidFill>
          <a:ln w="12700">
            <a:solidFill>
              <a:srgbClr val="2C58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0528" y="4361688"/>
            <a:ext cx="548640" cy="548640"/>
          </a:xfrm>
          <a:prstGeom prst="ellipse">
            <a:avLst/>
          </a:prstGeom>
          <a:solidFill>
            <a:srgbClr val="56B576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43616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23760" y="43251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passif amiante peut disparaître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23760" y="4846320"/>
            <a:ext cx="4160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 en charge par le projet, à ma charge d'organisation.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je ferai — et ce que je te demande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engagements (jalons)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365760" cy="365760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743200"/>
            <a:ext cx="0" cy="502920"/>
          </a:xfrm>
          <a:prstGeom prst="line">
            <a:avLst/>
          </a:prstGeom>
          <a:noFill/>
          <a:ln w="25400">
            <a:solidFill>
              <a:srgbClr val="D8E2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228600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Mois 1-2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280160" y="2587752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Contacter les spécialistes du foncier data center et les opérateurs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273552"/>
            <a:ext cx="365760" cy="365760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2735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80" y="3639312"/>
            <a:ext cx="0" cy="502920"/>
          </a:xfrm>
          <a:prstGeom prst="line">
            <a:avLst/>
          </a:prstGeom>
          <a:noFill/>
          <a:ln w="25400">
            <a:solidFill>
              <a:srgbClr val="D8E2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3182112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Mois 2-4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280160" y="348386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rendez-vous à la mairie + pré-étude Enedis (gratuite)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4169664"/>
            <a:ext cx="365760" cy="365760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169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4535424"/>
            <a:ext cx="0" cy="502920"/>
          </a:xfrm>
          <a:prstGeom prst="line">
            <a:avLst/>
          </a:prstGeom>
          <a:noFill/>
          <a:ln w="25400">
            <a:solidFill>
              <a:srgbClr val="D8E2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0160" y="4078224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Mois 4-6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280160" y="437997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te rapporte les réponses : y a-t-il un acheteur, à quel prix 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5065776"/>
            <a:ext cx="365760" cy="365760"/>
          </a:xfrm>
          <a:prstGeom prst="ellipse">
            <a:avLst/>
          </a:prstGeom>
          <a:solidFill>
            <a:srgbClr val="00A1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0657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4974336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 d'étape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280160" y="527608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décide ensemble — continuer, ou vendre au BTP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1874520"/>
            <a:ext cx="5349240" cy="4206240"/>
          </a:xfrm>
          <a:prstGeom prst="roundRect">
            <a:avLst>
              <a:gd name="adj" fmla="val 2174"/>
            </a:avLst>
          </a:prstGeom>
          <a:solidFill>
            <a:srgbClr val="1B4355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2148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je te demande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92240" y="278892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signer la vente BTP tout de suite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M'accorder 3 à 6 mois d'exclusivité, le temps de vérifier</a:t>
            </a:r>
            <a:endParaRPr lang="en-US" sz="15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E6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Refaire le point ensemble avec les réponses en main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6492240" y="5029200"/>
            <a:ext cx="4709160" cy="0"/>
          </a:xfrm>
          <a:prstGeom prst="line">
            <a:avLst/>
          </a:prstGeom>
          <a:noFill/>
          <a:ln w="12700">
            <a:solidFill>
              <a:srgbClr val="2C58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51663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ne te demande pas de parier sur ce projet.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00A1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Juste quelques mois pour vérifier s'il tient debout.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43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03120" y="2926080"/>
            <a:ext cx="5943600" cy="5943600"/>
          </a:xfrm>
          <a:prstGeom prst="ellipse">
            <a:avLst/>
          </a:prstGeom>
          <a:solidFill>
            <a:srgbClr val="163541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194560"/>
            <a:ext cx="5029200" cy="5029200"/>
          </a:xfrm>
          <a:prstGeom prst="ellipse">
            <a:avLst/>
          </a:prstGeom>
          <a:solidFill>
            <a:srgbClr val="2251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3774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vendons pas juste un terrain.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1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Donnons-nous le temps d'en faire un actif.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32688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risque est faible. La valeur potentielle, elle, est grande.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4892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DD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en parle 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2026-07-26T15:12:45Z</dcterms:created>
  <dcterms:modified xsi:type="dcterms:W3CDTF">2026-07-26T15:12:45Z</dcterms:modified>
</cp:coreProperties>
</file>