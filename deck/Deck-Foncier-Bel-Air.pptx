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251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163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— FONCIER DE BEL-AIR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si ton terrain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valait bien plus qu'un dépôt 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un projet de data center sur la parcelle avant de la vendre.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926080" cy="0"/>
          </a:xfrm>
          <a:prstGeom prst="line">
            <a:avLst/>
          </a:prstGeom>
          <a:noFill/>
          <a:ln w="25400">
            <a:solidFill>
              <a:srgbClr val="00A1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proposition de Charles — juillet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DU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Aujourd'hui, une seule option est sur la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EC5F6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Vendre maintenant à l'acheteur BTP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unique et définitif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te sépares du terrain pour de bon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de la toiture amiantée est déduit de l'offre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« data center » du terrain n'est jamais testée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1B435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proposition tient en une phrase 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vendons pas tout de suite.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Donne-moi le temps d'étudier le projet — le risque pour toi est faible.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TE DEMANDE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choses simples — et ta sortie reste garantie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temps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à 18 mois pour étudier et dé-risquer le projet, avant toute vente.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468880"/>
            <a:ext cx="777240" cy="77724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exclusivité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promesse de vente sous conditions, ou une option : tu ne t'engages à rien de définitif.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468880"/>
            <a:ext cx="777240" cy="77724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confiance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avance ensemble, en transparence. Je te rends compte à chaque étape.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projet n'aboutit pas, la vente à l'acheteur BTP reste possible : tu ne perds rien.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PROJET, SIMPLEMENT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un dépôt en foncier prêt à recevoir un data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terrain aujourd'hui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couverture, hangar à toiture amiantée. ~2 522 m² en zone d'activités.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50208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514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prépare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8862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électrique, autorisations, fibre, terrain propre : un site « prêt à construire ».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44968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514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0392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 créée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3920" y="38862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foncier électrifié et dé-risqué — l'actif le plus recherché du secteur data center.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marché n'a jamais autant cherché des terrains électrifiés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B435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+109 Md€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annoncés en France pour les data centers (IA, cloud)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B4355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286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à 4 ans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3154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délai pour un raccordement électrique — le vrai goulot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B4355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286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 à 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21040" y="3154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d'un terrain avec puissance sécurisée (Europe)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acteurs majeurs font déjà exactement ça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ouvre ses anciens sites industriels aux data centers pour leur raccordement déjà en place.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Altarea (promoteur) valorise près de Bordeaux un terrain avec 400 MW sécurisés, apporté à un exploitant.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TERRAIN PRÉCISÉMENT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Bel-Air coche les cases que d'autres n'ont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13432"/>
            <a:ext cx="621792" cy="621792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185416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Puissance rare, à portée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214884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 MW disponibles et une ligne haute tension à seulement 250 m. C'est ce qui manque partout ailleurs.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39312"/>
            <a:ext cx="621792" cy="621792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9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3511296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 usage, bonne zone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0" y="347472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d'activités : un data center y est constructible. Terrain déjà artificialisé (pas de « béton neuf » à justifier).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65192"/>
            <a:ext cx="621792" cy="621792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837176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Connecté et bien placé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480060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haut débit présent. Climat frais de Rodez (~590 m) = refroidissement moins cher.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J'EN SUIS DÉJÀ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verrous d'un data center — et le plus dur est déjà là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514600"/>
            <a:ext cx="914400" cy="9144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Électricité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 MW disponibles, ligne HTA à 250 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17320" y="4983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6B576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514600"/>
            <a:ext cx="914400" cy="9144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3484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Urbanisme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0916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d'activités = constructible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12080" y="4983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6B576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2514600"/>
            <a:ext cx="914400" cy="9144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20" name="Text 18"/>
          <p:cNvSpPr/>
          <p:nvPr/>
        </p:nvSpPr>
        <p:spPr>
          <a:xfrm>
            <a:off x="946404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0392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haut débit présent, fibre pro livrable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06840" y="4983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6B576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D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électrique — d'habitude le point qui tue les projets — est déjà disponible ici.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JE PEUX Y ARRIVER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très exactement mon métier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B435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Développeur de projets d'énergie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quotidien : sécuriser du foncier, obtenir des raccordements électriques et des autorisations d'urbanisme, monter des projets et les mener jusqu'à la construction ou la revente.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 center reprend les mêmes briques.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2231136"/>
            <a:ext cx="457200" cy="4572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Raccordement électrique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450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dialoguer avec Enedis et lire une capacité réseau.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3035808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3255264"/>
            <a:ext cx="457200" cy="4572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31272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Urbanisme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3474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Permis, zonage, relation avec les mairies : c'est ma routine.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4059936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4279392"/>
            <a:ext cx="457200" cy="4572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151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Compute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44988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déjà déployé des mini data centers sur nos centrales solaires.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0" y="5084064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5303520"/>
            <a:ext cx="457200" cy="45720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5175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 d'acteurs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55229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Enedis, fournisseurs de modules, opérateurs data center.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STRATÉGIE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Dé-risquer d'abord, décider ensuite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846320" cy="4023360"/>
          </a:xfrm>
          <a:prstGeom prst="roundRect">
            <a:avLst>
              <a:gd name="adj" fmla="val 2273"/>
            </a:avLst>
          </a:prstGeom>
          <a:solidFill>
            <a:srgbClr val="1B435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DÉ-RISQUER  (~12-18 mois)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: pré-étude puis réservation de la puissance (Enedis)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Urbanisme : certificat d'urbanisme + discussion avec la mairie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: confirmer les offres opérateurs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 les acheteurs / exploitants possibles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532120" y="3657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TU CHOISIS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303520" cy="1024128"/>
          </a:xfrm>
          <a:prstGeom prst="roundRect">
            <a:avLst>
              <a:gd name="adj" fmla="val 714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770632"/>
            <a:ext cx="512064" cy="512064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770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6243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Vendre le foncier « prêt à construire 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la survaleur, une fois le site dé-risqué.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685032"/>
            <a:ext cx="5303520" cy="1024128"/>
          </a:xfrm>
          <a:prstGeom prst="roundRect">
            <a:avLst>
              <a:gd name="adj" fmla="val 714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941064"/>
            <a:ext cx="512064" cy="512064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9410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320" y="37947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louer à un exploitant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41879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loyer récurrent sur 20-40 ans : tu gardes le terrain.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855464"/>
            <a:ext cx="5303520" cy="1024128"/>
          </a:xfrm>
          <a:prstGeom prst="roundRect">
            <a:avLst>
              <a:gd name="adj" fmla="val 7143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5111496"/>
            <a:ext cx="512064" cy="512064"/>
          </a:xfrm>
          <a:prstGeom prst="ellipse">
            <a:avLst/>
          </a:prstGeom>
          <a:solidFill>
            <a:srgbClr val="5E707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5111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9651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Vendre au BTP (repli)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535838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possible si le projet n'aboutit pas.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BONUS POUR TOI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règle le problème de l'amiante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EC5F6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423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 : un passif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toiture du hangar est amiantée.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désamiantage coûte ~25 000 à 55 000 €.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acheteur BTP le déduira de son offre — ou tu le porteras un jour.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B4355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423160"/>
            <a:ext cx="640080" cy="64008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06640" y="2423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le projet : réglé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désamiantage et la démolition sont intégrés au montage.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disparaît sans que tu aies à le financer.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terrain ressort propre et valorisé.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TOI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 BTP maintenant  vs  voie data center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703320"/>
          </a:xfrm>
          <a:prstGeom prst="roundRect">
            <a:avLst>
              <a:gd name="adj" fmla="val 2469"/>
            </a:avLst>
          </a:prstGeom>
          <a:solidFill>
            <a:srgbClr val="F1F5F6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BTP — MAINTENANT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~164 000 – 340 000 €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foncière de marché (à confronter à l'offre reçue)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unique, définitif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 amiante déduit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sors de l'actif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89320" y="1965960"/>
            <a:ext cx="5532120" cy="3703320"/>
          </a:xfrm>
          <a:prstGeom prst="roundRect">
            <a:avLst>
              <a:gd name="adj" fmla="val 2469"/>
            </a:avLst>
          </a:prstGeom>
          <a:solidFill>
            <a:srgbClr val="1B435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DATA CENTER — APRÈS DÉ-RISQUAGE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D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~250 000 – 1 000 000 €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survaleur × 1,5 à 3 en vente  —  ou un loyer récurrent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38404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premium OU loyer sur 20-40 ans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Amiante pris en charge par le projet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peux garder le foncier (patrimoine)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trouver l'acheteur ou l'exploitant — c'est justement ce que je vais dé-risquer.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POUR TOI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toi, le risque est faible — et l'upside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87168"/>
            <a:ext cx="548640" cy="54864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4505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gardes le terrain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9718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vendu tant que tu n'as pas décidé.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487168"/>
            <a:ext cx="548640" cy="54864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4505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sortie BTP reste ouverte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9718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projet échoue, la vente au BTP reprend son cours.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361688"/>
            <a:ext cx="548640" cy="54864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325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 d'attendre est quasi nul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8463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travaille pour toi : la demande data center monte.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43743"/>
          </a:solidFill>
          <a:ln w="12700">
            <a:solidFill>
              <a:srgbClr val="2C58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4361688"/>
            <a:ext cx="548640" cy="548640"/>
          </a:xfrm>
          <a:prstGeom prst="ellipse">
            <a:avLst/>
          </a:prstGeom>
          <a:solidFill>
            <a:srgbClr val="56B57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325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passif amiante peut disparaître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8463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 en charge par le projet, à ma charge d'organisation.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ferai — et ce que je te demande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engagements (jalons)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0" cy="502920"/>
          </a:xfrm>
          <a:prstGeom prst="line">
            <a:avLst/>
          </a:prstGeom>
          <a:noFill/>
          <a:ln w="25400">
            <a:solidFill>
              <a:srgbClr val="D8E2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 1-3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Pré-étude Enedis + rendez-vous à la mairie de Rodez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365760" cy="36576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639312"/>
            <a:ext cx="0" cy="502920"/>
          </a:xfrm>
          <a:prstGeom prst="line">
            <a:avLst/>
          </a:prstGeom>
          <a:noFill/>
          <a:ln w="25400">
            <a:solidFill>
              <a:srgbClr val="D8E2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 3-9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4838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la puissance + certificat d'urbanisme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169664"/>
            <a:ext cx="365760" cy="36576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535424"/>
            <a:ext cx="0" cy="502920"/>
          </a:xfrm>
          <a:prstGeom prst="line">
            <a:avLst/>
          </a:prstGeom>
          <a:noFill/>
          <a:ln w="25400">
            <a:solidFill>
              <a:srgbClr val="D8E2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0782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 6-12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3799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 acheteurs / exploitants (edge, colocation régionale)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065776"/>
            <a:ext cx="365760" cy="36576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065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9743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d'étape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2760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décide ensemble, en fonction des résultats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43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te demande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27889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signer la vente BTP maintenant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M'accorder 12-18 mois d'exclusivité (promesse sous conditions, ou option)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le projet ensemble, en transparence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492240" y="5074920"/>
            <a:ext cx="4709160" cy="0"/>
          </a:xfrm>
          <a:prstGeom prst="line">
            <a:avLst/>
          </a:prstGeom>
          <a:noFill/>
          <a:ln w="12700">
            <a:solidFill>
              <a:srgbClr val="2C58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212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 t'engages sur rien de définitif — tu te donnes une chance de valoir plus.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926080"/>
            <a:ext cx="5943600" cy="5943600"/>
          </a:xfrm>
          <a:prstGeom prst="ellipse">
            <a:avLst/>
          </a:prstGeom>
          <a:solidFill>
            <a:srgbClr val="16354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94560"/>
            <a:ext cx="5029200" cy="5029200"/>
          </a:xfrm>
          <a:prstGeom prst="ellipse">
            <a:avLst/>
          </a:prstGeom>
          <a:solidFill>
            <a:srgbClr val="2251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vendons pas juste un terrain.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Donnons-nous le temps d'en faire un actif.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32688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est faible. La valeur potentielle, elle, est grande.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D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en parle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2026-07-26T06:59:08Z</dcterms:created>
  <dcterms:modified xsi:type="dcterms:W3CDTF">2026-07-26T06:59:08Z</dcterms:modified>
</cp:coreProperties>
</file>